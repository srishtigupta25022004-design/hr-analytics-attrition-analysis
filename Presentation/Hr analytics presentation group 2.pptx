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9"/>
  </p:notesMasterIdLst>
  <p:handoutMasterIdLst>
    <p:handoutMasterId r:id="rId20"/>
  </p:handoutMasterIdLst>
  <p:sldIdLst>
    <p:sldId id="289" r:id="rId5"/>
    <p:sldId id="288" r:id="rId6"/>
    <p:sldId id="276" r:id="rId7"/>
    <p:sldId id="283" r:id="rId8"/>
    <p:sldId id="261" r:id="rId9"/>
    <p:sldId id="264" r:id="rId10"/>
    <p:sldId id="257" r:id="rId11"/>
    <p:sldId id="265" r:id="rId12"/>
    <p:sldId id="268" r:id="rId13"/>
    <p:sldId id="263" r:id="rId14"/>
    <p:sldId id="266" r:id="rId15"/>
    <p:sldId id="267" r:id="rId16"/>
    <p:sldId id="290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9052D2-70F3-41AD-AD7F-04411836E59C}" v="75" dt="2026-02-10T16:56:49.027"/>
    <p1510:client id="{14EF98BC-F873-6E6C-6840-0ECD473AA2BE}" v="6" dt="2026-02-12T13:00:32.448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94" autoAdjust="0"/>
  </p:normalViewPr>
  <p:slideViewPr>
    <p:cSldViewPr snapToGrid="0">
      <p:cViewPr varScale="1">
        <p:scale>
          <a:sx n="59" d="100"/>
          <a:sy n="59" d="100"/>
        </p:scale>
        <p:origin x="112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76B4786170B9D68/Documents/HR%20Analyt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76B4786170B9D68/Documents/HR%20Analyt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76B4786170B9D68/Documents/HR%20Analytic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 Analytics.xlsx]Avg_Attrition!PivotTable4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rgbClr val="ED7D31"/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Average Attrition Rate by</a:t>
            </a:r>
            <a:r>
              <a:rPr lang="en-US" sz="1800" baseline="0"/>
              <a:t> </a:t>
            </a:r>
            <a:r>
              <a:rPr lang="en-US" sz="1800"/>
              <a:t>Department</a:t>
            </a:r>
          </a:p>
        </c:rich>
      </c:tx>
      <c:layout>
        <c:manualLayout>
          <c:xMode val="edge"/>
          <c:yMode val="edge"/>
          <c:x val="0.34312180506597723"/>
          <c:y val="5.804760200429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rgbClr val="ED7D3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880507606362513"/>
          <c:y val="0.21132784538296348"/>
          <c:w val="0.84409562503872471"/>
          <c:h val="0.627118826055833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Avg_Attrition!$B$3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Avg_Attrition!$A$4:$A$10</c:f>
              <c:strCache>
                <c:ptCount val="6"/>
                <c:pt idx="0">
                  <c:v>Hardware</c:v>
                </c:pt>
                <c:pt idx="1">
                  <c:v>Human Resources</c:v>
                </c:pt>
                <c:pt idx="2">
                  <c:v>Research &amp; Development</c:v>
                </c:pt>
                <c:pt idx="3">
                  <c:v>Sales</c:v>
                </c:pt>
                <c:pt idx="4">
                  <c:v>Software</c:v>
                </c:pt>
                <c:pt idx="5">
                  <c:v>Support</c:v>
                </c:pt>
              </c:strCache>
            </c:strRef>
          </c:cat>
          <c:val>
            <c:numRef>
              <c:f>Avg_Attrition!$B$4:$B$10</c:f>
              <c:numCache>
                <c:formatCode>0.00%</c:formatCode>
                <c:ptCount val="6"/>
                <c:pt idx="0">
                  <c:v>0.49443016281062552</c:v>
                </c:pt>
                <c:pt idx="1">
                  <c:v>0.49857448325017817</c:v>
                </c:pt>
                <c:pt idx="2">
                  <c:v>0.51208077893977644</c:v>
                </c:pt>
                <c:pt idx="3">
                  <c:v>0.50017745179226314</c:v>
                </c:pt>
                <c:pt idx="4">
                  <c:v>0.50539827255278313</c:v>
                </c:pt>
                <c:pt idx="5">
                  <c:v>0.5018663455749548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57-4948-BA2D-A40487DBCB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5"/>
        <c:overlap val="-27"/>
        <c:axId val="917903367"/>
        <c:axId val="917934599"/>
      </c:barChart>
      <c:catAx>
        <c:axId val="917903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6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934599"/>
        <c:crosses val="autoZero"/>
        <c:auto val="1"/>
        <c:lblAlgn val="ctr"/>
        <c:lblOffset val="100"/>
        <c:noMultiLvlLbl val="0"/>
      </c:catAx>
      <c:valAx>
        <c:axId val="917934599"/>
        <c:scaling>
          <c:orientation val="minMax"/>
        </c:scaling>
        <c:delete val="0"/>
        <c:axPos val="l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rgbClr val="0D0D0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9033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57150" cap="flat" cmpd="sng" algn="ctr">
      <a:solidFill>
        <a:schemeClr val="accent4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 Analytics.xlsx]srishti!PivotTable1</c:name>
    <c:fmtId val="17"/>
  </c:pivotSource>
  <c:chart>
    <c:autoTitleDeleted val="1"/>
    <c:pivotFmts>
      <c:pivotFmt>
        <c:idx val="0"/>
        <c:spPr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alpha val="96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alpha val="96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alpha val="91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alpha val="91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alpha val="91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alpha val="91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628575892744148"/>
          <c:y val="5.0925925925925923E-2"/>
          <c:w val="0.57805171403371802"/>
          <c:h val="0.706466170895304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srishti!$B$1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alpha val="91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srishti!$A$2:$A$12</c:f>
              <c:strCache>
                <c:ptCount val="10"/>
                <c:pt idx="0">
                  <c:v>Developer</c:v>
                </c:pt>
                <c:pt idx="1">
                  <c:v>Healthcare Representative</c:v>
                </c:pt>
                <c:pt idx="2">
                  <c:v>Human Resources</c:v>
                </c:pt>
                <c:pt idx="3">
                  <c:v>Laboratory Technician</c:v>
                </c:pt>
                <c:pt idx="4">
                  <c:v>Manager</c:v>
                </c:pt>
                <c:pt idx="5">
                  <c:v>Manufacturing Director</c:v>
                </c:pt>
                <c:pt idx="6">
                  <c:v>Research Director</c:v>
                </c:pt>
                <c:pt idx="7">
                  <c:v>Research Scientist</c:v>
                </c:pt>
                <c:pt idx="8">
                  <c:v>Sales Executive</c:v>
                </c:pt>
                <c:pt idx="9">
                  <c:v>Sales Representative</c:v>
                </c:pt>
              </c:strCache>
            </c:strRef>
          </c:cat>
          <c:val>
            <c:numRef>
              <c:f>srishti!$B$2:$B$12</c:f>
              <c:numCache>
                <c:formatCode>0.00</c:formatCode>
                <c:ptCount val="10"/>
                <c:pt idx="0">
                  <c:v>2.5113340020060182</c:v>
                </c:pt>
                <c:pt idx="1">
                  <c:v>2.5066402378592665</c:v>
                </c:pt>
                <c:pt idx="2">
                  <c:v>2.5052759740259742</c:v>
                </c:pt>
                <c:pt idx="3">
                  <c:v>2.4904315960912053</c:v>
                </c:pt>
                <c:pt idx="4">
                  <c:v>2.4966243050039716</c:v>
                </c:pt>
                <c:pt idx="5">
                  <c:v>2.5016083634901487</c:v>
                </c:pt>
                <c:pt idx="6">
                  <c:v>2.4938296178343951</c:v>
                </c:pt>
                <c:pt idx="7">
                  <c:v>2.5139331210191083</c:v>
                </c:pt>
                <c:pt idx="8">
                  <c:v>2.4688303977834951</c:v>
                </c:pt>
                <c:pt idx="9">
                  <c:v>2.4989041641761305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D-4646-8E5B-9ABEB99FF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8689392"/>
        <c:axId val="58673072"/>
      </c:barChart>
      <c:catAx>
        <c:axId val="58689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alpha val="96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73072"/>
        <c:crosses val="autoZero"/>
        <c:auto val="1"/>
        <c:lblAlgn val="ctr"/>
        <c:lblOffset val="100"/>
        <c:noMultiLvlLbl val="0"/>
      </c:catAx>
      <c:valAx>
        <c:axId val="58673072"/>
        <c:scaling>
          <c:orientation val="minMax"/>
          <c:max val="2.5299999999999998"/>
          <c:min val="2.4499999999999997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alpha val="96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1" dirty="0">
                    <a:solidFill>
                      <a:schemeClr val="accent2">
                        <a:lumMod val="40000"/>
                        <a:lumOff val="60000"/>
                        <a:alpha val="96000"/>
                      </a:schemeClr>
                    </a:solidFill>
                  </a:rPr>
                  <a:t>Average of Work Life Balance on the basis</a:t>
                </a:r>
                <a:r>
                  <a:rPr lang="en-IN" sz="1400" b="1" baseline="0" dirty="0">
                    <a:solidFill>
                      <a:schemeClr val="accent2">
                        <a:lumMod val="40000"/>
                        <a:lumOff val="60000"/>
                        <a:alpha val="96000"/>
                      </a:schemeClr>
                    </a:solidFill>
                  </a:rPr>
                  <a:t> </a:t>
                </a:r>
                <a:r>
                  <a:rPr lang="en-IN" sz="1400" b="1" dirty="0">
                    <a:solidFill>
                      <a:schemeClr val="accent2">
                        <a:lumMod val="40000"/>
                        <a:lumOff val="60000"/>
                        <a:alpha val="96000"/>
                      </a:schemeClr>
                    </a:solidFill>
                  </a:rPr>
                  <a:t>of job</a:t>
                </a:r>
                <a:r>
                  <a:rPr lang="en-IN" sz="1400" b="1" baseline="0" dirty="0">
                    <a:solidFill>
                      <a:schemeClr val="accent2">
                        <a:lumMod val="40000"/>
                        <a:lumOff val="60000"/>
                        <a:alpha val="96000"/>
                      </a:schemeClr>
                    </a:solidFill>
                  </a:rPr>
                  <a:t> </a:t>
                </a:r>
                <a:r>
                  <a:rPr lang="en-IN" sz="1400" b="1" dirty="0">
                    <a:solidFill>
                      <a:schemeClr val="accent2">
                        <a:lumMod val="40000"/>
                        <a:lumOff val="60000"/>
                        <a:alpha val="96000"/>
                      </a:schemeClr>
                    </a:solidFill>
                  </a:rPr>
                  <a:t>role </a:t>
                </a:r>
              </a:p>
            </c:rich>
          </c:tx>
          <c:layout>
            <c:manualLayout>
              <c:xMode val="edge"/>
              <c:yMode val="edge"/>
              <c:x val="0.10816241995432359"/>
              <c:y val="0.85132574873771527"/>
            </c:manualLayout>
          </c:layout>
          <c:overlay val="0"/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alpha val="96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solidFill>
              <a:srgbClr val="00206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alpha val="96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89392"/>
        <c:crosses val="autoZero"/>
        <c:crossBetween val="between"/>
        <c:majorUnit val="2.0000000000000004E-2"/>
      </c:valAx>
      <c:spPr>
        <a:noFill/>
        <a:ln w="25400">
          <a:solidFill>
            <a:schemeClr val="accent4">
              <a:lumMod val="50000"/>
              <a:alpha val="99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76200" cap="flat" cmpd="sng" algn="ctr">
      <a:solidFill>
        <a:schemeClr val="accent4">
          <a:lumMod val="50000"/>
        </a:schemeClr>
      </a:solidFill>
      <a:round/>
    </a:ln>
    <a:effectLst/>
  </c:spPr>
  <c:txPr>
    <a:bodyPr/>
    <a:lstStyle/>
    <a:p>
      <a:pPr>
        <a:defRPr>
          <a:solidFill>
            <a:schemeClr val="tx1">
              <a:alpha val="96000"/>
            </a:schemeClr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[HR Analytics.xlsx]sharath!PivotTable1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effectLst/>
              </a:rPr>
              <a:t>Average Working Years For each Department</a:t>
            </a:r>
            <a:r>
              <a:rPr lang="en-IN" sz="1400" b="0" i="0" u="none" strike="noStrike" baseline="0">
                <a:effectLst/>
              </a:rPr>
              <a:t> 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sharath!$B$3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sharath!$A$4:$A$10</c:f>
              <c:strCache>
                <c:ptCount val="6"/>
                <c:pt idx="0">
                  <c:v>Hardware</c:v>
                </c:pt>
                <c:pt idx="1">
                  <c:v>Human Resources</c:v>
                </c:pt>
                <c:pt idx="2">
                  <c:v>Research &amp; Development</c:v>
                </c:pt>
                <c:pt idx="3">
                  <c:v>Sales</c:v>
                </c:pt>
                <c:pt idx="4">
                  <c:v>Software</c:v>
                </c:pt>
                <c:pt idx="5">
                  <c:v>Support</c:v>
                </c:pt>
              </c:strCache>
            </c:strRef>
          </c:cat>
          <c:val>
            <c:numRef>
              <c:f>sharath!$B$4:$B$10</c:f>
              <c:numCache>
                <c:formatCode>0.00</c:formatCode>
                <c:ptCount val="6"/>
                <c:pt idx="0">
                  <c:v>20.479373240298692</c:v>
                </c:pt>
                <c:pt idx="1">
                  <c:v>20.453670705630792</c:v>
                </c:pt>
                <c:pt idx="2">
                  <c:v>20.298473374203631</c:v>
                </c:pt>
                <c:pt idx="3">
                  <c:v>20.617768839465278</c:v>
                </c:pt>
                <c:pt idx="4">
                  <c:v>20.645273512476006</c:v>
                </c:pt>
                <c:pt idx="5">
                  <c:v>20.484527393136666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1-4374-AD0A-BE8960C1D0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96358751"/>
        <c:axId val="1396359231"/>
      </c:barChart>
      <c:catAx>
        <c:axId val="13963587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359231"/>
        <c:crosses val="autoZero"/>
        <c:auto val="1"/>
        <c:lblAlgn val="ctr"/>
        <c:lblOffset val="100"/>
        <c:noMultiLvlLbl val="0"/>
      </c:catAx>
      <c:valAx>
        <c:axId val="1396359231"/>
        <c:scaling>
          <c:orientation val="minMax"/>
        </c:scaling>
        <c:delete val="0"/>
        <c:axPos val="l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358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57150" cap="flat" cmpd="sng" algn="ctr">
      <a:solidFill>
        <a:schemeClr val="accent4">
          <a:lumMod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E75A3-5873-58D0-9782-7D220DB4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F805D-1288-83E0-54D7-296F78643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C1164-F0BB-694B-1949-0BED913D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2C268-3FE4-A72E-CBC1-305F365CB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96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83" y="-221434"/>
            <a:ext cx="6087617" cy="5315948"/>
          </a:xfrm>
        </p:spPr>
        <p:txBody>
          <a:bodyPr/>
          <a:lstStyle/>
          <a:p>
            <a:pPr algn="ctr"/>
            <a:r>
              <a:rPr lang="en-US" b="1" dirty="0"/>
              <a:t>HR Analytics Dashboard </a:t>
            </a:r>
            <a:br>
              <a:rPr lang="en-US" b="1" dirty="0"/>
            </a:br>
            <a:r>
              <a:rPr lang="en-US" sz="2800" b="1" dirty="0"/>
              <a:t>by Group 2</a:t>
            </a:r>
            <a:br>
              <a:rPr lang="en-US" sz="2800" b="1" dirty="0"/>
            </a:br>
            <a:br>
              <a:rPr lang="en-US" dirty="0"/>
            </a:br>
            <a:r>
              <a:rPr lang="en-IN" sz="2800" i="0" dirty="0">
                <a:latin typeface="Aptos Narrow" panose="020B0004020202020204" pitchFamily="34" charset="0"/>
              </a:rPr>
              <a:t>KPI-Driven Attrition &amp; Workforce Strategy</a:t>
            </a:r>
            <a:br>
              <a:rPr lang="en-US" sz="2800" i="0" dirty="0">
                <a:latin typeface="Aptos Narrow" panose="020B0004020202020204" pitchFamily="34" charset="0"/>
              </a:rPr>
            </a:br>
            <a:br>
              <a:rPr lang="en-US" sz="2800" i="0" dirty="0">
                <a:latin typeface="Aptos Narrow" panose="020B0004020202020204" pitchFamily="34" charset="0"/>
              </a:rPr>
            </a:br>
            <a:r>
              <a:rPr lang="en-US" sz="1600" b="1" i="0" dirty="0">
                <a:latin typeface="Aptos Narrow" panose="020B0004020202020204" pitchFamily="34" charset="0"/>
              </a:rPr>
              <a:t>Tools:</a:t>
            </a:r>
            <a:r>
              <a:rPr lang="en-US" sz="1600" i="0" dirty="0">
                <a:latin typeface="Aptos Narrow" panose="020B0004020202020204" pitchFamily="34" charset="0"/>
              </a:rPr>
              <a:t> Excel | SQL | Power BI | Tableau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7571" y="509286"/>
            <a:ext cx="4834773" cy="5617194"/>
          </a:xfrm>
          <a:noFill/>
        </p:spPr>
        <p:txBody>
          <a:bodyPr anchor="ctr">
            <a:norm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GROUP 2 MEMBERS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Srishti Gupta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Arunkumar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Rade Rachna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Shaikh Arshad Mohammed Aslam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Aswitha . 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ERANNAGARI SHARATH KUMAR</a:t>
            </a:r>
            <a:endParaRPr lang="en-US" dirty="0"/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D2E2DB-3E25-A74D-7C0B-DC6B82F8F70B}"/>
              </a:ext>
            </a:extLst>
          </p:cNvPr>
          <p:cNvSpPr txBox="1"/>
          <p:nvPr/>
        </p:nvSpPr>
        <p:spPr>
          <a:xfrm>
            <a:off x="1483178" y="694778"/>
            <a:ext cx="61232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Bahnschrift SemiBold SemiConden" panose="020B0502040204020203" pitchFamily="34" charset="0"/>
              </a:rPr>
              <a:t>Core KPIs Used</a:t>
            </a:r>
            <a:endParaRPr lang="en-US" sz="3600" dirty="0">
              <a:solidFill>
                <a:schemeClr val="accent3">
                  <a:lumMod val="75000"/>
                </a:schemeClr>
              </a:solidFill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SemiBold SemiConden" panose="020B0502040204020203" pitchFamily="34" charset="0"/>
              </a:rPr>
              <a:t> </a:t>
            </a: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Attrition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Attrition by Department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Attrition vs Monthly Income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Attrition vs Promotion Gap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Work-Life Balance Index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Average Working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Compensation Indicators</a:t>
            </a: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327" y="2820090"/>
            <a:ext cx="6314397" cy="2719636"/>
          </a:xfrm>
          <a:noFill/>
        </p:spPr>
        <p:txBody>
          <a:bodyPr anchor="t"/>
          <a:lstStyle/>
          <a:p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Insight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Attrition rate is ~50%, which is critically high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Indicates systemic HR issues, not isolated team problems</a:t>
            </a:r>
          </a:p>
          <a:p>
            <a:endParaRPr lang="en-US" sz="2000" dirty="0"/>
          </a:p>
          <a:p>
            <a:r>
              <a: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Inference:</a:t>
            </a:r>
            <a:br>
              <a:rPr lang="en-US" sz="2000" dirty="0"/>
            </a:b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Retention risk exists across the organization.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FE969-1C5B-7367-BC7A-404C723C9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26" y="382271"/>
            <a:ext cx="6705600" cy="204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30607" y="3178628"/>
            <a:ext cx="7263964" cy="3156857"/>
          </a:xfrm>
          <a:noFill/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Insight</a:t>
            </a:r>
            <a:endParaRPr lang="en-US" sz="3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1900" dirty="0">
                <a:solidFill>
                  <a:schemeClr val="accent3">
                    <a:lumMod val="75000"/>
                  </a:schemeClr>
                </a:solidFill>
              </a:rPr>
              <a:t>R&amp;D shows the </a:t>
            </a:r>
            <a:r>
              <a:rPr lang="en-US" sz="1900" b="1" dirty="0">
                <a:solidFill>
                  <a:schemeClr val="accent3">
                    <a:lumMod val="75000"/>
                  </a:schemeClr>
                </a:solidFill>
              </a:rPr>
              <a:t>highest attrition (~51%)</a:t>
            </a:r>
            <a:endParaRPr lang="en-US" sz="19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sz="1900" dirty="0">
                <a:solidFill>
                  <a:schemeClr val="accent3">
                    <a:lumMod val="75000"/>
                  </a:schemeClr>
                </a:solidFill>
              </a:rPr>
              <a:t>Hardware is relatively more stable</a:t>
            </a:r>
          </a:p>
          <a:p>
            <a:r>
              <a:rPr lang="en-US" sz="1900" dirty="0">
                <a:solidFill>
                  <a:schemeClr val="accent3">
                    <a:lumMod val="75000"/>
                  </a:schemeClr>
                </a:solidFill>
              </a:rPr>
              <a:t>Attrition across departments remains close to 50%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Inference:</a:t>
            </a:r>
            <a:br>
              <a:rPr lang="en-US" sz="1900" dirty="0"/>
            </a:br>
            <a:r>
              <a:rPr lang="en-US" sz="1900" dirty="0">
                <a:solidFill>
                  <a:schemeClr val="accent3">
                    <a:lumMod val="75000"/>
                  </a:schemeClr>
                </a:solidFill>
              </a:rPr>
              <a:t>Attrition is </a:t>
            </a:r>
            <a:r>
              <a:rPr lang="en-US" sz="1900" b="1" dirty="0">
                <a:solidFill>
                  <a:schemeClr val="accent3">
                    <a:lumMod val="75000"/>
                  </a:schemeClr>
                </a:solidFill>
              </a:rPr>
              <a:t>policy-driven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</a:rPr>
              <a:t>, not department-specific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BC3C8AF-7743-4A76-9BCE-C109CDA06E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411293"/>
              </p:ext>
            </p:extLst>
          </p:nvPr>
        </p:nvGraphicFramePr>
        <p:xfrm>
          <a:off x="3730607" y="435429"/>
          <a:ext cx="7263964" cy="2471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000610" y="760411"/>
            <a:ext cx="5280448" cy="515053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Key Observations</a:t>
            </a:r>
            <a:endParaRPr lang="en-US" sz="3200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High attrition in lower salary bands → early dissatisfaction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Significant attrition even among higher earners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Average income difference between attrition “Yes” and “No” is minimal</a:t>
            </a:r>
          </a:p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Inference:</a:t>
            </a:r>
            <a:br>
              <a:rPr lang="en-US" sz="2400" dirty="0"/>
            </a:b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Salary alone does not ensure retention —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growth and recognition matter more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755FB-EB99-E484-8DAD-AE5ABFAC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57" y="3535234"/>
            <a:ext cx="4598853" cy="25623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38B2D4-E047-75E4-CC89-1A918BE80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058" y="760411"/>
            <a:ext cx="4598853" cy="2435513"/>
          </a:xfrm>
          <a:prstGeom prst="rect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343405"/>
            <a:ext cx="4953000" cy="4164765"/>
          </a:xfrm>
          <a:noFill/>
        </p:spPr>
        <p:txBody>
          <a:bodyPr/>
          <a:lstStyle/>
          <a:p>
            <a:pPr algn="l"/>
            <a:r>
              <a:rPr lang="en-US" sz="2400" dirty="0"/>
              <a:t>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Attrition increases sharply after long promotion gaps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Employees tend to stay initially but exit after prolonged stagnation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sz="2400" dirty="0"/>
              <a:t>Inference:</a:t>
            </a:r>
            <a:br>
              <a:rPr lang="en-US" dirty="0"/>
            </a:br>
            <a:r>
              <a:rPr lang="en-US" b="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Employees don’t leave suddenly — they leave after waiting too long.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7B14AE-3A7A-C355-A750-4251EBDE0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71" y="1267206"/>
            <a:ext cx="4841458" cy="371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057568" y="963344"/>
            <a:ext cx="5256145" cy="4944857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Observations</a:t>
            </a:r>
            <a:endParaRPr lang="en-US" sz="3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Developers &amp; Managers show 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lower WLB scores</a:t>
            </a:r>
            <a:endParaRPr lang="en-US" sz="2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Support and healthcare roles show better balance</a:t>
            </a:r>
          </a:p>
          <a:p>
            <a:endParaRPr lang="en-US" sz="32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Inference:</a:t>
            </a:r>
            <a:br>
              <a:rPr lang="en-US" sz="3200" dirty="0"/>
            </a:br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Burnout-prone roles are </a:t>
            </a:r>
            <a:r>
              <a:rPr lang="en-US" sz="2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predictable attrition hotspots</a:t>
            </a:r>
            <a:r>
              <a:rPr lang="en-US" sz="3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E2C5C95-7FDD-42AD-A702-72EF2044E2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89837"/>
              </p:ext>
            </p:extLst>
          </p:nvPr>
        </p:nvGraphicFramePr>
        <p:xfrm>
          <a:off x="7064829" y="933429"/>
          <a:ext cx="4267200" cy="504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1366" y="1263435"/>
            <a:ext cx="3548605" cy="3986246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/>
              <a:t>Insight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tenure remains ~20 years across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Minimal variation across functions</a:t>
            </a:r>
          </a:p>
          <a:p>
            <a:endParaRPr lang="en-US" dirty="0"/>
          </a:p>
          <a:p>
            <a:r>
              <a:rPr lang="en-US" sz="2800" b="1" dirty="0"/>
              <a:t>Inference:</a:t>
            </a:r>
            <a:br>
              <a:rPr lang="en-US" dirty="0"/>
            </a:br>
            <a:r>
              <a:rPr lang="en-US" dirty="0"/>
              <a:t>Employees are not leaving early — </a:t>
            </a:r>
            <a:r>
              <a:rPr lang="en-US" b="1" dirty="0"/>
              <a:t>experienced employees are exiting</a:t>
            </a:r>
            <a:r>
              <a:rPr lang="en-US" dirty="0"/>
              <a:t>, increasing replacement cost.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AD5ACAC-48CD-40E9-BB93-8C28763E2E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0784193"/>
              </p:ext>
            </p:extLst>
          </p:nvPr>
        </p:nvGraphicFramePr>
        <p:xfrm>
          <a:off x="5464630" y="1179116"/>
          <a:ext cx="5703976" cy="4154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 txBox="1">
            <a:spLocks/>
          </p:cNvSpPr>
          <p:nvPr/>
        </p:nvSpPr>
        <p:spPr>
          <a:xfrm>
            <a:off x="838200" y="2128980"/>
            <a:ext cx="6645965" cy="42976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Attrition is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structural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, not situational</a:t>
            </a:r>
          </a:p>
          <a:p>
            <a:pPr marL="285750" indent="-285750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Promotion stagnation drives disengagement</a:t>
            </a:r>
          </a:p>
          <a:p>
            <a:pPr marL="285750" indent="-285750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Compensation without differentiation reduces motivation</a:t>
            </a:r>
          </a:p>
          <a:p>
            <a:pPr marL="285750" indent="-285750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Burnout roles show higher attrition risk</a:t>
            </a:r>
          </a:p>
          <a:p>
            <a:pPr marL="285750" indent="-285750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HR risks are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measurable and predictable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652"/>
            <a:ext cx="6498771" cy="1382156"/>
          </a:xfrm>
          <a:noFill/>
        </p:spPr>
        <p:txBody>
          <a:bodyPr/>
          <a:lstStyle/>
          <a:p>
            <a:r>
              <a:rPr lang="en-US" b="1" i="0" dirty="0">
                <a:solidFill>
                  <a:schemeClr val="accent3">
                    <a:lumMod val="50000"/>
                  </a:schemeClr>
                </a:solidFill>
              </a:rPr>
              <a:t>What the KPIs collectively tell us</a:t>
            </a:r>
            <a:endParaRPr lang="en-US" i="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06B5F136-4BC3-2AB7-A5C9-FF4985E45FC5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280201298"/>
              </p:ext>
            </p:extLst>
          </p:nvPr>
        </p:nvGraphicFramePr>
        <p:xfrm>
          <a:off x="1480458" y="805543"/>
          <a:ext cx="8926286" cy="505097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463143">
                  <a:extLst>
                    <a:ext uri="{9D8B030D-6E8A-4147-A177-3AD203B41FA5}">
                      <a16:colId xmlns:a16="http://schemas.microsoft.com/office/drawing/2014/main" val="1699324539"/>
                    </a:ext>
                  </a:extLst>
                </a:gridCol>
                <a:gridCol w="4463143">
                  <a:extLst>
                    <a:ext uri="{9D8B030D-6E8A-4147-A177-3AD203B41FA5}">
                      <a16:colId xmlns:a16="http://schemas.microsoft.com/office/drawing/2014/main" val="871063249"/>
                    </a:ext>
                  </a:extLst>
                </a:gridCol>
              </a:tblGrid>
              <a:tr h="863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/>
                        <a:t>Insight Identified</a:t>
                      </a:r>
                    </a:p>
                  </a:txBody>
                  <a:tcPr marL="64389" marR="64389" marT="32194" marB="32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b="1" dirty="0"/>
                        <a:t>Strategic Action</a:t>
                      </a:r>
                    </a:p>
                  </a:txBody>
                  <a:tcPr marL="64389" marR="64389" marT="32194" marB="32194" anchor="ctr"/>
                </a:tc>
                <a:extLst>
                  <a:ext uri="{0D108BD9-81ED-4DB2-BD59-A6C34878D82A}">
                    <a16:rowId xmlns:a16="http://schemas.microsoft.com/office/drawing/2014/main" val="4086647461"/>
                  </a:ext>
                </a:extLst>
              </a:tr>
              <a:tr h="837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High attrition across levels</a:t>
                      </a:r>
                    </a:p>
                  </a:txBody>
                  <a:tcPr marL="64389" marR="64389" marT="32194" marB="32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Organization-wide retention strategy</a:t>
                      </a:r>
                    </a:p>
                  </a:txBody>
                  <a:tcPr marL="64389" marR="64389" marT="32194" marB="32194" anchor="ctr"/>
                </a:tc>
                <a:extLst>
                  <a:ext uri="{0D108BD9-81ED-4DB2-BD59-A6C34878D82A}">
                    <a16:rowId xmlns:a16="http://schemas.microsoft.com/office/drawing/2014/main" val="3846604603"/>
                  </a:ext>
                </a:extLst>
              </a:tr>
              <a:tr h="837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Promotion stagnation</a:t>
                      </a:r>
                    </a:p>
                  </a:txBody>
                  <a:tcPr marL="64389" marR="64389" marT="32194" marB="32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Promotion review every 3–5 years</a:t>
                      </a:r>
                    </a:p>
                  </a:txBody>
                  <a:tcPr marL="64389" marR="64389" marT="32194" marB="32194" anchor="ctr"/>
                </a:tc>
                <a:extLst>
                  <a:ext uri="{0D108BD9-81ED-4DB2-BD59-A6C34878D82A}">
                    <a16:rowId xmlns:a16="http://schemas.microsoft.com/office/drawing/2014/main" val="1629866532"/>
                  </a:ext>
                </a:extLst>
              </a:tr>
              <a:tr h="837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Burnout in technical roles</a:t>
                      </a:r>
                    </a:p>
                  </a:txBody>
                  <a:tcPr marL="64389" marR="64389" marT="32194" marB="32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Role redesign &amp; workload balance</a:t>
                      </a:r>
                    </a:p>
                  </a:txBody>
                  <a:tcPr marL="64389" marR="64389" marT="32194" marB="32194" anchor="ctr"/>
                </a:tc>
                <a:extLst>
                  <a:ext uri="{0D108BD9-81ED-4DB2-BD59-A6C34878D82A}">
                    <a16:rowId xmlns:a16="http://schemas.microsoft.com/office/drawing/2014/main" val="233014419"/>
                  </a:ext>
                </a:extLst>
              </a:tr>
              <a:tr h="837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Salary compression</a:t>
                      </a:r>
                    </a:p>
                  </a:txBody>
                  <a:tcPr marL="64389" marR="64389" marT="32194" marB="32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Skill-based compensation bands</a:t>
                      </a:r>
                    </a:p>
                  </a:txBody>
                  <a:tcPr marL="64389" marR="64389" marT="32194" marB="32194" anchor="ctr"/>
                </a:tc>
                <a:extLst>
                  <a:ext uri="{0D108BD9-81ED-4DB2-BD59-A6C34878D82A}">
                    <a16:rowId xmlns:a16="http://schemas.microsoft.com/office/drawing/2014/main" val="1631602313"/>
                  </a:ext>
                </a:extLst>
              </a:tr>
              <a:tr h="837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Early dissatisfaction</a:t>
                      </a:r>
                    </a:p>
                  </a:txBody>
                  <a:tcPr marL="64389" marR="64389" marT="32194" marB="32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First-year engagement &amp; feedback loops</a:t>
                      </a:r>
                    </a:p>
                  </a:txBody>
                  <a:tcPr marL="64389" marR="64389" marT="32194" marB="32194" anchor="ctr"/>
                </a:tc>
                <a:extLst>
                  <a:ext uri="{0D108BD9-81ED-4DB2-BD59-A6C34878D82A}">
                    <a16:rowId xmlns:a16="http://schemas.microsoft.com/office/drawing/2014/main" val="4059041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8" y="0"/>
            <a:ext cx="9906000" cy="1687285"/>
          </a:xfrm>
          <a:noFill/>
        </p:spPr>
        <p:txBody>
          <a:bodyPr/>
          <a:lstStyle/>
          <a:p>
            <a:r>
              <a:rPr lang="en-IN" sz="4000" b="1" i="0" dirty="0"/>
              <a:t>HR ACTION ROADMAP</a:t>
            </a:r>
            <a:br>
              <a:rPr lang="en-IN" sz="2800" b="1" i="0" dirty="0"/>
            </a:br>
            <a:endParaRPr lang="en-IN" sz="2800" i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6D20E-E55C-AB96-5C23-24847393260F}"/>
              </a:ext>
            </a:extLst>
          </p:cNvPr>
          <p:cNvSpPr txBox="1"/>
          <p:nvPr/>
        </p:nvSpPr>
        <p:spPr>
          <a:xfrm>
            <a:off x="1632858" y="1355582"/>
            <a:ext cx="612321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Short Term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Identify high-risk employees using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Conduct stay interviews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Address workload imbalance</a:t>
            </a:r>
          </a:p>
          <a:p>
            <a:endParaRPr lang="en-IN" sz="2000" dirty="0"/>
          </a:p>
          <a:p>
            <a:pPr>
              <a:buNone/>
            </a:pPr>
            <a:r>
              <a:rPr lang="en-IN" sz="2800" b="1" dirty="0"/>
              <a:t>Medium Term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Transparent promotion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Role-based pay benchmarking</a:t>
            </a:r>
          </a:p>
          <a:p>
            <a:endParaRPr lang="en-IN" sz="2000" dirty="0"/>
          </a:p>
          <a:p>
            <a:pPr>
              <a:buNone/>
            </a:pPr>
            <a:r>
              <a:rPr lang="en-IN" sz="2800" b="1" dirty="0"/>
              <a:t>Long Term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Predictive attrition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Continuous HR KPI monitoring</a:t>
            </a:r>
          </a:p>
        </p:txBody>
      </p:sp>
      <p:pic>
        <p:nvPicPr>
          <p:cNvPr id="7" name="Picture Placeholder 19" descr="City lights at night">
            <a:extLst>
              <a:ext uri="{FF2B5EF4-FFF2-40B4-BE49-F238E27FC236}">
                <a16:creationId xmlns:a16="http://schemas.microsoft.com/office/drawing/2014/main" id="{32DAB4E2-EA91-77C5-7A1A-AC6D1AD62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7566992" y="0"/>
            <a:ext cx="4625008" cy="690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54F5-B985-3816-4201-9C0C2DE3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6950E8-721D-275E-6995-F842B9D9C006}"/>
              </a:ext>
            </a:extLst>
          </p:cNvPr>
          <p:cNvSpPr txBox="1"/>
          <p:nvPr/>
        </p:nvSpPr>
        <p:spPr>
          <a:xfrm>
            <a:off x="1080407" y="921407"/>
            <a:ext cx="709476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Expected Outcomes</a:t>
            </a:r>
          </a:p>
          <a:p>
            <a:pPr>
              <a:buNone/>
            </a:pPr>
            <a:endParaRPr lang="en-US" sz="3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Reduced avoidable attrition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Higher employee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Stronger talent retention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Data-driven HR decision-making</a:t>
            </a:r>
          </a:p>
        </p:txBody>
      </p:sp>
      <p:pic>
        <p:nvPicPr>
          <p:cNvPr id="12" name="Picture Placeholder 6" descr="Looking up view of a city with skyscrapers">
            <a:extLst>
              <a:ext uri="{FF2B5EF4-FFF2-40B4-BE49-F238E27FC236}">
                <a16:creationId xmlns:a16="http://schemas.microsoft.com/office/drawing/2014/main" id="{7E352695-040D-2CF8-C092-F6724DD8A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>
          <a:xfrm>
            <a:off x="5613199" y="0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82388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57391"/>
            <a:ext cx="4902843" cy="3526778"/>
          </a:xfrm>
          <a:noFill/>
        </p:spPr>
        <p:txBody>
          <a:bodyPr anchor="b"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158</TotalTime>
  <Words>437</Words>
  <Application>Microsoft Office PowerPoint</Application>
  <PresentationFormat>Widescreen</PresentationFormat>
  <Paragraphs>102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AngleLinesVTI</vt:lpstr>
      <vt:lpstr>HR Analytics Dashboard  by Group 2  KPI-Driven Attrition &amp; Workforce Strategy  Tools: Excel | SQL | Power BI | Tableau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the KPIs collectively tell us</vt:lpstr>
      <vt:lpstr>PowerPoint Presentation</vt:lpstr>
      <vt:lpstr>HR ACTION ROADMAP 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srishti gupta</cp:lastModifiedBy>
  <cp:revision>5</cp:revision>
  <dcterms:created xsi:type="dcterms:W3CDTF">2026-02-10T14:17:44Z</dcterms:created>
  <dcterms:modified xsi:type="dcterms:W3CDTF">2026-02-15T11:25:14Z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